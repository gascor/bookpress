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Playfair Display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Inter Medium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D03A2A-55BF-4F47-B0D6-43872907D277}">
  <a:tblStyle styleId="{D4D03A2A-55BF-4F47-B0D6-43872907D27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PlayfairDisplay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ayfairDisplay-italic.fntdata"/><Relationship Id="rId25" Type="http://schemas.openxmlformats.org/officeDocument/2006/relationships/font" Target="fonts/PlayfairDisplay-bold.fntdata"/><Relationship Id="rId28" Type="http://schemas.openxmlformats.org/officeDocument/2006/relationships/font" Target="fonts/Inter-regular.fntdata"/><Relationship Id="rId27" Type="http://schemas.openxmlformats.org/officeDocument/2006/relationships/font" Target="fonts/PlayfairDisplay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5.xml"/><Relationship Id="rId33" Type="http://schemas.openxmlformats.org/officeDocument/2006/relationships/font" Target="fonts/InterMedium-bold.fntdata"/><Relationship Id="rId10" Type="http://schemas.openxmlformats.org/officeDocument/2006/relationships/slide" Target="slides/slide4.xml"/><Relationship Id="rId32" Type="http://schemas.openxmlformats.org/officeDocument/2006/relationships/font" Target="fonts/InterMedium-regular.fntdata"/><Relationship Id="rId13" Type="http://schemas.openxmlformats.org/officeDocument/2006/relationships/slide" Target="slides/slide7.xml"/><Relationship Id="rId35" Type="http://schemas.openxmlformats.org/officeDocument/2006/relationships/font" Target="fonts/InterMedium-boldItalic.fntdata"/><Relationship Id="rId12" Type="http://schemas.openxmlformats.org/officeDocument/2006/relationships/slide" Target="slides/slide6.xml"/><Relationship Id="rId34" Type="http://schemas.openxmlformats.org/officeDocument/2006/relationships/font" Target="fonts/InterMedium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9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Relationship Id="rId5" Type="http://schemas.openxmlformats.org/officeDocument/2006/relationships/image" Target="../media/image21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AF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265015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Révolutionner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l'Édition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22716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4E3B"/>
                </a:solidFill>
                <a:latin typeface="Inter Medium"/>
                <a:ea typeface="Inter Medium"/>
                <a:cs typeface="Inter Medium"/>
                <a:sym typeface="Inter Medium"/>
              </a:rPr>
              <a:t>Vers un modèle d'édition équitable, créatif et écologique.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AF6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6381750" y="3309937"/>
            <a:ext cx="55006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Le scandale du gaspillage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6381750" y="354806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Chaque jour en France, 170 000 livres sont détruits sans jamais avoir été ouverts. Un désastre écologique caché qui représente 12% des émissions CO2 du secteur.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2731477"/>
            <a:ext cx="4553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25%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4486275"/>
            <a:ext cx="4552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 LIVRES FINISSENT AU PILON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Un système à bout de souffle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AF6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571500" y="2773973"/>
            <a:ext cx="4953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Le système traditionnel de distribution de masse impose des stocks colossaux qui, s'ils ne sont pas vendus en quelques semaines, sont envoyés au broyeur.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71500" y="41910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Notre mission 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Mettre fin à l'absurdité du "produire pour détruire".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2057400"/>
            <a:ext cx="52006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L'Hécatombe Silencieuse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AF6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28887"/>
            <a:ext cx="5238750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528887"/>
            <a:ext cx="5238750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919412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962025" y="3395662"/>
            <a:ext cx="468058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Standardisation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962025" y="3633787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Les grands éditeurs refusent l'audace pour minimiser les risques financiers. Les algorithmes de vente dictent désormais le contenu.</a:t>
            </a:r>
            <a:endParaRPr/>
          </a:p>
        </p:txBody>
      </p:sp>
      <p:pic>
        <p:nvPicPr>
          <p:cNvPr descr="image.png" id="116" name="Google Shape;11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2919412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6772275" y="3395662"/>
            <a:ext cx="468058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Liberté Totale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6772275" y="3633787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Donner la chance aux projets atypiques, aux auteurs de niche et aux formats hybrides que le marché actuel rejette par peur.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La créativité sous perfusion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AF6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812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/>
        </p:nvSpPr>
        <p:spPr>
          <a:xfrm>
            <a:off x="571500" y="2757487"/>
            <a:ext cx="55006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L'auteur, dernier servi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571500" y="299561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Sur un livre vendu 20€, l'auteur ne touche souvent que 1,20€ à 1,60€. Le reste est absorbé par une logistique archaïque et des intermédiaires gourmands.</a:t>
            </a:r>
            <a:endParaRPr/>
          </a:p>
        </p:txBody>
      </p:sp>
      <p:pic>
        <p:nvPicPr>
          <p:cNvPr descr="image.png" id="128" name="Google Shape;12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812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571500" y="4100512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Distribution/Diffusion : 55%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571500" y="4405312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Fabrication/Stockage : 25%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571500" y="4710112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Auteur : 6% à 10%</a:t>
            </a:r>
            <a:endParaRPr/>
          </a:p>
        </p:txBody>
      </p:sp>
      <p:pic>
        <p:nvPicPr>
          <p:cNvPr descr="image.png" id="132" name="Google Shape;13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52900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57700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762500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Des miettes pour les créateurs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4E3B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295275" y="2484090"/>
            <a:ext cx="11601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La Solution 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5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L'Édition de Précision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571500" y="400809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FCE7"/>
                </a:solidFill>
                <a:latin typeface="Inter"/>
                <a:ea typeface="Inter"/>
                <a:cs typeface="Inter"/>
                <a:sym typeface="Inter"/>
              </a:rPr>
              <a:t>Une plateforme e-commerce éco-responsable et centrée sur l'humain.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AF6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9825"/>
            <a:ext cx="3492549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09825"/>
            <a:ext cx="3492549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09825"/>
            <a:ext cx="3492549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1000" y="2800350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894237" y="3514725"/>
            <a:ext cx="284707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Précommande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962025" y="3752850"/>
            <a:ext cx="27114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Vendez avant d'imprimer. Le lecteur finance la production, éliminant tout risque financier.</a:t>
            </a:r>
            <a:endParaRPr/>
          </a:p>
        </p:txBody>
      </p:sp>
      <p:pic>
        <p:nvPicPr>
          <p:cNvPr descr="image.png" id="154" name="Google Shape;15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80035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 txBox="1"/>
          <p:nvPr/>
        </p:nvSpPr>
        <p:spPr>
          <a:xfrm>
            <a:off x="4672537" y="3514725"/>
            <a:ext cx="284707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Impression POD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4740324" y="3752850"/>
            <a:ext cx="27114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On n'imprime que ce qui est vendu. Pas de surplus, pas de pilon, pas de gaspillage de papier.</a:t>
            </a:r>
            <a:endParaRPr/>
          </a:p>
        </p:txBody>
      </p:sp>
      <p:pic>
        <p:nvPicPr>
          <p:cNvPr descr="image.png" id="157" name="Google Shape;157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6174" y="280035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8450836" y="3514725"/>
            <a:ext cx="284707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Éco-conception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8518624" y="3752850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Des matériaux durables et une production locale pour un impact carbone minimal.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Le Modèle "Zéro Gâchis"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AF6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43075"/>
            <a:ext cx="4286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1838325"/>
            <a:ext cx="4095750" cy="40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6381750" y="2238375"/>
            <a:ext cx="55006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Flexibilité et Transparence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6381750" y="247650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Sur notre plateforme, les auteurs et éditeurs sont maîtres de leur business :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6381750" y="327660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Rémunération libre 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Définissez votre propre pourcentage de revenus.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6381750" y="402907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Accès direct 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Communiquez directement avec votre communauté de lecteurs.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6381750" y="478155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Données réelles 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Suivez vos ventes et vos marges en temps réel.</a:t>
            </a:r>
            <a:endParaRPr/>
          </a:p>
        </p:txBody>
      </p:sp>
      <p:pic>
        <p:nvPicPr>
          <p:cNvPr descr="image.png" id="173" name="Google Shape;17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3289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0814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83393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Le pouvoir aux créateurs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AF6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/>
        </p:nvSpPr>
        <p:spPr>
          <a:xfrm>
            <a:off x="571500" y="50720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Ce cycle hebdomadaire permet de massifier la production pour réduire les coûts tout en restant agile.</a:t>
            </a:r>
            <a:endParaRPr/>
          </a:p>
        </p:txBody>
      </p:sp>
      <p:sp>
        <p:nvSpPr>
          <p:cNvPr id="183" name="Google Shape;183;p21"/>
          <p:cNvSpPr/>
          <p:nvPr/>
        </p:nvSpPr>
        <p:spPr>
          <a:xfrm>
            <a:off x="571500" y="3476625"/>
            <a:ext cx="11049000" cy="381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510733" y="3443287"/>
            <a:ext cx="255219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Lundi - Dimanche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571500" y="3681412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Collecte des précommandes sur la plateforme.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3383413" y="3443287"/>
            <a:ext cx="255219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Lundi (S+1)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3444180" y="3681412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Regroupement des commandes et envoi à l'imprimeur.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6256094" y="3443287"/>
            <a:ext cx="255219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Mardi - Mercredi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6316860" y="3681412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Impression numérique de précision (POD).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9128774" y="3443287"/>
            <a:ext cx="255219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Jeudi - Vendredi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9189541" y="3681412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Expédition directe au lecteur. Trajet court.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Production optimisée et groupée</a:t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1643955" y="2871787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064E3B"/>
          </a:solidFill>
          <a:ln cap="flat" cmpd="sng" w="57150">
            <a:solidFill>
              <a:srgbClr val="FDF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4516635" y="2871787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064E3B"/>
          </a:solidFill>
          <a:ln cap="flat" cmpd="sng" w="57150">
            <a:solidFill>
              <a:srgbClr val="FDF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7389316" y="2871787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064E3B"/>
          </a:solidFill>
          <a:ln cap="flat" cmpd="sng" w="57150">
            <a:solidFill>
              <a:srgbClr val="FDF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10261996" y="2871787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064E3B"/>
          </a:solidFill>
          <a:ln cap="flat" cmpd="sng" w="57150">
            <a:solidFill>
              <a:srgbClr val="FDF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AF6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/>
          <p:nvPr/>
        </p:nvSpPr>
        <p:spPr>
          <a:xfrm>
            <a:off x="571500" y="2343150"/>
            <a:ext cx="11049000" cy="30861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3" name="Google Shape;203;p22"/>
          <p:cNvGraphicFramePr/>
          <p:nvPr/>
        </p:nvGraphicFramePr>
        <p:xfrm>
          <a:off x="571500" y="23431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{D4D03A2A-55BF-4F47-B0D6-43872907D277}</a:tableStyleId>
              </a:tblPr>
              <a:tblGrid>
                <a:gridCol w="3223775"/>
                <a:gridCol w="3554325"/>
                <a:gridCol w="4270925"/>
              </a:tblGrid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Critères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Édition Classique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Notre Plateforme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4E3B"/>
                    </a:solidFill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2E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Rémunération Auteur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2E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6% - 10% (Subie)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2E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Flexible (25% - 50%+)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2E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Risque de Stock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2E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Élevé (Pilon massif)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2E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Nul (Zéro stock)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2E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Contrôle Créatif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2E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Limité par le distributeur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2E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Total et Inconditionnel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2E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Impact Écologique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2E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Désastreux (Gaspillage)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2E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Positif (Impression raisonnée)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4" name="Google Shape;204;p22"/>
          <p:cNvSpPr/>
          <p:nvPr/>
        </p:nvSpPr>
        <p:spPr>
          <a:xfrm>
            <a:off x="571500" y="3643312"/>
            <a:ext cx="322376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3795266" y="3643312"/>
            <a:ext cx="355431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7349579" y="3643312"/>
            <a:ext cx="427092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571500" y="4233862"/>
            <a:ext cx="322376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3795266" y="4233862"/>
            <a:ext cx="355431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7349579" y="4233862"/>
            <a:ext cx="427092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571500" y="4824412"/>
            <a:ext cx="322376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3795266" y="4824412"/>
            <a:ext cx="355431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7349579" y="4824412"/>
            <a:ext cx="427092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571500" y="5414962"/>
            <a:ext cx="322376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3795266" y="5414962"/>
            <a:ext cx="355431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7349579" y="5414962"/>
            <a:ext cx="427092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Pourquoi nous choisir 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AF6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85900"/>
            <a:ext cx="1104900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 txBox="1"/>
          <p:nvPr/>
        </p:nvSpPr>
        <p:spPr>
          <a:xfrm>
            <a:off x="571500" y="559117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En supprimant les distributeurs physiques, nous triplons le revenu des créateurs.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Un nouveau partage de la valeur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CFCE7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4"/>
          <p:cNvSpPr txBox="1"/>
          <p:nvPr/>
        </p:nvSpPr>
        <p:spPr>
          <a:xfrm>
            <a:off x="295275" y="1943992"/>
            <a:ext cx="11601450" cy="1266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Des questions ?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571500" y="3401317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Rejoignez la révolution de l'édition durable.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571500" y="4304258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571500" y="4609058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AF6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5"/>
          <p:cNvSpPr/>
          <p:nvPr/>
        </p:nvSpPr>
        <p:spPr>
          <a:xfrm>
            <a:off x="571500" y="271373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571500" y="349850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5"/>
          <p:cNvSpPr/>
          <p:nvPr/>
        </p:nvSpPr>
        <p:spPr>
          <a:xfrm>
            <a:off x="571500" y="348897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571500" y="348897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571500" y="42737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571500" y="42737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5" name="Google Shape;24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6315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5"/>
          <p:cNvSpPr txBox="1"/>
          <p:nvPr/>
        </p:nvSpPr>
        <p:spPr>
          <a:xfrm>
            <a:off x="1666875" y="285660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https://static.vecteezy.com/system/resources/thumbnails/071/886/066/small/large-pile-of-scrap-metal-for-recycling-photo.jpg</a:t>
            </a:r>
            <a:endParaRPr/>
          </a:p>
        </p:txBody>
      </p:sp>
      <p:sp>
        <p:nvSpPr>
          <p:cNvPr id="247" name="Google Shape;247;p25"/>
          <p:cNvSpPr txBox="1"/>
          <p:nvPr/>
        </p:nvSpPr>
        <p:spPr>
          <a:xfrm>
            <a:off x="1666875" y="310232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248" name="Google Shape;24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4792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 txBox="1"/>
          <p:nvPr/>
        </p:nvSpPr>
        <p:spPr>
          <a:xfrm>
            <a:off x="1666875" y="364137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https://i.redd.it/cy2pvuxqdijb1.jpg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1666875" y="388709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www.reddit.com</a:t>
            </a:r>
            <a:endParaRPr/>
          </a:p>
        </p:txBody>
      </p:sp>
      <p:pic>
        <p:nvPicPr>
          <p:cNvPr descr="image.png" id="251" name="Google Shape;25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3269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 txBox="1"/>
          <p:nvPr/>
        </p:nvSpPr>
        <p:spPr>
          <a:xfrm>
            <a:off x="1666875" y="442614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https://www.employinc.com/wp-content/uploads/2026/02/GettyImages-2196235296.jpg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1666875" y="467186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www.employinc.com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